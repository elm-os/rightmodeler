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breath: we are the decision layer for the models inside AI agents. Everything downstream of this slide is evidence for that sentence.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headline is the title of our founding-story essay. Company set spans big tech (Amazon), SBA lending (B:Side), impact investing (Vanderbilt Financial Group), an autonomous phone-call agent (Colyap), and an AI operating system for VC (VCOS). The internal tool ran at B:Side, VCOS, and Colyap; at the others we ran the same workflow by hand before the tool existed. This is the validated-learning chain, not a customer 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forces compound: stacks got deep (many decisions) and releases got frequent (each decision reopens every few weeks). Teams resolve the tension by not deciding: they stay put (the 11%) until a launch shockwave forces a migration scramble (the 45% in a month). Both failure modes are expensive.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why the problem never closes: even if no new model beats yours on quality, the price floor drops under you continuously. Checkr's public case lands here if asked: one workload moved from GPT-4 to a fine-tuned 8B model, roughly 90% cheaper, accuracy up from 88% to 97% (Computerworld, 2024). Proof that right-sizing is real money, not margin-of-error.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core belief the products are built on: your traces are the benchmark. It is also the moat argument in miniature: the data that makes decisions trustworthy already belongs to the customer, and we are the only ones who turn it into a decision where it lives, in the repo.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Show, don't describe: this exists, installs in one line, and runs on the user's own OpenRouter key. Judging discipline matters: deterministic checks first, cross-family judges, order-swapped verdicts, abstention on weak evidence. It is a report with evidence, not observability and not a runtime gateway.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mental model: platforms ship first-party agents now (Vercel has one for deploys); this is ours, for model decisions, living in your repo and CI. It turns the skill's one-time report into a standing service: every release evaluated against your stack, forever. That recurring loop is what people pay for.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Crucible closes the loop: the agent decides at release time, Crucible watches production continuously and feeds drift back into the next decision. Together they make model choice a managed system instead of an annual scramble.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growth engine is sticky by construction (Lean Startup's sticky engine): a one-time model choice decays, so staying current is a subscription-shaped problem. Every headline model launch is a free re-activation event for us. Pricing specifics are deliberately not public yet; do not quote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Adjacent funding prices the problem: OpenRouter $113M at $1.3B (2026), LangChain $125M at $1.25B (2025), Braintrust $80M (2026), Arize $70M (2025), Galileo $45M (2024), CloudZero $56M (2025), Finout $40M (2025). All validated, none in our seat. We happily ride on routers as rails (the skill replays through OpenRouter) while owning the decision above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Bottom-up math, stated as assumptions: roughly 20,000 teams running agents in production, each seriously re-evaluating about 8 releases a year at about 40 engineering hours and $120 loaded cost: 20,000 x 8 x 40 x $120 is $1.5B of labor we automate. Savings side: if 20 to 40% of the $12.5B pool is over-provisioned and right-sizing recovers half or more, $1.25B to $3.75B a year is recoverable. Both roads land in the same order of magnitude, and the pool compounds at 46% underneath.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strictly as learning velocity, not adoption claims: each stage exists because the previous one taught us something at a real company. No user counts or revenue yet, and we say so plainly if asked; the waitlists are the only public funnel today.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Spelling check before export: the user writes Chaurasiya; his site styles it Chaurasia. Confirm with Chai and use his preferred form. Every line above traces to the founders' own sites.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where the manifesto begins: evidence beats vibes. The three doors for any audience: run the skill (developers), join a waitlist (design partners), or continue the conversation (investors, recruits).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D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500" y="5653088"/>
            <a:ext cx="9182100" cy="3681413"/>
          </a:xfrm>
          <a:prstGeom prst="roundRect">
            <a:avLst>
              <a:gd name="adj" fmla="val 4140"/>
            </a:avLst>
          </a:prstGeom>
          <a:solidFill>
            <a:srgbClr val="FDFCFC"/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8300" y="6224588"/>
            <a:ext cx="609600" cy="609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476500" y="6243638"/>
            <a:ext cx="3795802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8431"/>
              </a:lnSpc>
              <a:buNone/>
            </a:pPr>
            <a:r>
              <a:rPr lang="en-US" sz="4500" b="1" spc="-90" kern="0" dirty="0">
                <a:solidFill>
                  <a:srgbClr val="00000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rightmodeler</a:t>
            </a:r>
            <a:endParaRPr lang="en-US" sz="4500" dirty="0"/>
          </a:p>
        </p:txBody>
      </p:sp>
      <p:sp>
        <p:nvSpPr>
          <p:cNvPr id="6" name="Text 2"/>
          <p:cNvSpPr/>
          <p:nvPr/>
        </p:nvSpPr>
        <p:spPr>
          <a:xfrm>
            <a:off x="1638300" y="7138988"/>
            <a:ext cx="8044815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6330"/>
              </a:lnSpc>
              <a:buNone/>
            </a:pPr>
            <a:r>
              <a:rPr lang="en-US" sz="3150" spc="-63" kern="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right model for every layer of your AI agents, proven on your own traces.</a:t>
            </a:r>
            <a:endParaRPr lang="en-US" sz="3150" dirty="0"/>
          </a:p>
        </p:txBody>
      </p:sp>
      <p:sp>
        <p:nvSpPr>
          <p:cNvPr id="7" name="Text 3"/>
          <p:cNvSpPr/>
          <p:nvPr/>
        </p:nvSpPr>
        <p:spPr>
          <a:xfrm>
            <a:off x="1638300" y="8443913"/>
            <a:ext cx="8591550" cy="357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dirty="0">
                <a:solidFill>
                  <a:srgbClr val="777169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rightmodeler.com</a:t>
            </a:r>
            <a:endParaRPr lang="en-US" sz="1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D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4716125" cy="1462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4520"/>
              </a:lnSpc>
              <a:buNone/>
            </a:pPr>
            <a:r>
              <a:rPr lang="en-US" sz="5100" spc="-102" kern="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We were picking models by vibes. Then the bill arrived.</a:t>
            </a:r>
            <a:endParaRPr lang="en-US" sz="5100" dirty="0"/>
          </a:p>
        </p:txBody>
      </p:sp>
      <p:sp>
        <p:nvSpPr>
          <p:cNvPr id="3" name="Text 1"/>
          <p:cNvSpPr/>
          <p:nvPr/>
        </p:nvSpPr>
        <p:spPr>
          <a:xfrm>
            <a:off x="952500" y="3984278"/>
            <a:ext cx="7424745" cy="1323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build multiagent systems for a living. Every system asked the same question: which model belongs at each layer?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952500" y="5536853"/>
            <a:ext cx="7424745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50" dirty="0">
                <a:solidFill>
                  <a:srgbClr val="7771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built an internal tool to answer it. Engineers at every company we talked to had the same problem.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8846790" y="2701230"/>
            <a:ext cx="8488710" cy="4975920"/>
          </a:xfrm>
          <a:prstGeom prst="roundRect">
            <a:avLst>
              <a:gd name="adj" fmla="val 2297"/>
            </a:avLst>
          </a:prstGeom>
          <a:ln w="9525">
            <a:solidFill>
              <a:srgbClr val="E5E5E5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1944" r="1944" t="0" b="0"/>
          <a:stretch/>
        </p:blipFill>
        <p:spPr>
          <a:xfrm>
            <a:off x="8856315" y="2710755"/>
            <a:ext cx="8469660" cy="495687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952500" y="8096250"/>
            <a:ext cx="3124200" cy="1428750"/>
          </a:xfrm>
          <a:prstGeom prst="roundRect">
            <a:avLst>
              <a:gd name="adj" fmla="val 8000"/>
            </a:avLst>
          </a:prstGeom>
          <a:solidFill>
            <a:srgbClr val="F5F3F1"/>
          </a:solidFill>
          <a:ln w="9525">
            <a:solidFill>
              <a:srgbClr val="E5E5E5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4111" y="8562975"/>
            <a:ext cx="1640979" cy="495226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4267200" y="8096250"/>
            <a:ext cx="3124200" cy="1428750"/>
          </a:xfrm>
          <a:prstGeom prst="roundRect">
            <a:avLst>
              <a:gd name="adj" fmla="val 8000"/>
            </a:avLst>
          </a:prstGeom>
          <a:solidFill>
            <a:srgbClr val="F5F3F1"/>
          </a:solidFill>
          <a:ln w="9525">
            <a:solidFill>
              <a:srgbClr val="E5E5E5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0" y="8653463"/>
            <a:ext cx="1181100" cy="314325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7581900" y="8096250"/>
            <a:ext cx="3124200" cy="1428750"/>
          </a:xfrm>
          <a:prstGeom prst="roundRect">
            <a:avLst>
              <a:gd name="adj" fmla="val 8000"/>
            </a:avLst>
          </a:prstGeom>
          <a:solidFill>
            <a:srgbClr val="F5F3F1"/>
          </a:solidFill>
          <a:ln w="9525">
            <a:solidFill>
              <a:srgbClr val="E5E5E5"/>
            </a:solidFill>
            <a:prstDash val="solid"/>
          </a:ln>
        </p:spPr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1549" y="8591550"/>
            <a:ext cx="2304827" cy="438076"/>
          </a:xfrm>
          <a:prstGeom prst="rect">
            <a:avLst/>
          </a:prstGeom>
        </p:spPr>
      </p:pic>
      <p:sp>
        <p:nvSpPr>
          <p:cNvPr id="13" name="Shape 7"/>
          <p:cNvSpPr/>
          <p:nvPr/>
        </p:nvSpPr>
        <p:spPr>
          <a:xfrm>
            <a:off x="10896600" y="8096250"/>
            <a:ext cx="3124200" cy="1428750"/>
          </a:xfrm>
          <a:prstGeom prst="roundRect">
            <a:avLst>
              <a:gd name="adj" fmla="val 8000"/>
            </a:avLst>
          </a:prstGeom>
          <a:solidFill>
            <a:srgbClr val="F5F3F1"/>
          </a:solidFill>
          <a:ln w="9525">
            <a:solidFill>
              <a:srgbClr val="E5E5E5"/>
            </a:solidFill>
            <a:prstDash val="solid"/>
          </a:ln>
        </p:spPr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35147" y="8543925"/>
            <a:ext cx="1847106" cy="533326"/>
          </a:xfrm>
          <a:prstGeom prst="rect">
            <a:avLst/>
          </a:prstGeom>
        </p:spPr>
      </p:pic>
      <p:sp>
        <p:nvSpPr>
          <p:cNvPr id="15" name="Shape 8"/>
          <p:cNvSpPr/>
          <p:nvPr/>
        </p:nvSpPr>
        <p:spPr>
          <a:xfrm>
            <a:off x="14211300" y="8096250"/>
            <a:ext cx="3124200" cy="1428750"/>
          </a:xfrm>
          <a:prstGeom prst="roundRect">
            <a:avLst>
              <a:gd name="adj" fmla="val 8000"/>
            </a:avLst>
          </a:prstGeom>
          <a:solidFill>
            <a:srgbClr val="F5F3F1"/>
          </a:solidFill>
          <a:ln w="9525">
            <a:solidFill>
              <a:srgbClr val="E5E5E5"/>
            </a:solidFill>
            <a:prstDash val="solid"/>
          </a:ln>
        </p:spPr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000387" y="8543925"/>
            <a:ext cx="1546027" cy="53332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D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4716125" cy="1462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4520"/>
              </a:lnSpc>
              <a:buNone/>
            </a:pPr>
            <a:r>
              <a:rPr lang="en-US" sz="5100" spc="-102" kern="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Every layer is a model decision. Every release reopens it.</a:t>
            </a:r>
            <a:endParaRPr lang="en-US" sz="5100" dirty="0"/>
          </a:p>
        </p:txBody>
      </p:sp>
      <p:sp>
        <p:nvSpPr>
          <p:cNvPr id="3" name="Shape 1"/>
          <p:cNvSpPr/>
          <p:nvPr/>
        </p:nvSpPr>
        <p:spPr>
          <a:xfrm>
            <a:off x="952500" y="2701230"/>
            <a:ext cx="5905500" cy="2403128"/>
          </a:xfrm>
          <a:prstGeom prst="roundRect">
            <a:avLst>
              <a:gd name="adj" fmla="val 4756"/>
            </a:avLst>
          </a:prstGeom>
          <a:solidFill>
            <a:srgbClr val="F5F3F1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04925" y="2996505"/>
            <a:ext cx="572071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596"/>
              </a:lnSpc>
              <a:buNone/>
            </a:pPr>
            <a:r>
              <a:rPr lang="en-US" sz="5400" spc="-108" kern="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59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1304925" y="3758505"/>
            <a:ext cx="5356670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556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notable US model releases in 2025, one every few weeks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304925" y="4528096"/>
            <a:ext cx="5720715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59F9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Stanford HAI, AI Index Report 2026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52500" y="5332958"/>
            <a:ext cx="5905500" cy="3030810"/>
          </a:xfrm>
          <a:prstGeom prst="roundRect">
            <a:avLst>
              <a:gd name="adj" fmla="val 3771"/>
            </a:avLst>
          </a:prstGeom>
          <a:solidFill>
            <a:srgbClr val="F5F3F1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04925" y="5628233"/>
            <a:ext cx="572071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596"/>
              </a:lnSpc>
              <a:buNone/>
            </a:pPr>
            <a:r>
              <a:rPr lang="en-US" sz="5400" spc="-108" kern="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11% vs 45%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1304925" y="6390233"/>
            <a:ext cx="5356670" cy="107818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556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builders switched vendors in a year, yet a single launch flipped 45% of one provider's users in a month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304925" y="7506519"/>
            <a:ext cx="5356670" cy="600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59F9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Menlo Ventures, 2025 Mid-Year LLM Market Update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52500" y="8592369"/>
            <a:ext cx="6082665" cy="15296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462"/>
              </a:lnSpc>
              <a:buNone/>
            </a:pPr>
            <a:r>
              <a:rPr lang="en-US" sz="2025" dirty="0">
                <a:solidFill>
                  <a:srgbClr val="7771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agent is a stack of steps, and each step has its own cost, speed, and quality bar. Evaluating one model once is a project. Evaluating every model forever is a job.</a:t>
            </a:r>
            <a:endParaRPr lang="en-US" sz="2025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5321" b="-5321"/>
          <a:stretch/>
        </p:blipFill>
        <p:spPr>
          <a:xfrm>
            <a:off x="7467600" y="2701230"/>
            <a:ext cx="9867900" cy="682377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D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5716250" cy="750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4520"/>
              </a:lnSpc>
              <a:buNone/>
            </a:pPr>
            <a:r>
              <a:rPr lang="en-US" sz="5100" spc="-102" kern="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default is over-provisioned, and it decays.</a:t>
            </a:r>
            <a:endParaRPr lang="en-US" sz="5100" dirty="0"/>
          </a:p>
        </p:txBody>
      </p:sp>
      <p:sp>
        <p:nvSpPr>
          <p:cNvPr id="3" name="Shape 1"/>
          <p:cNvSpPr/>
          <p:nvPr/>
        </p:nvSpPr>
        <p:spPr>
          <a:xfrm>
            <a:off x="952500" y="1988790"/>
            <a:ext cx="5905500" cy="2337420"/>
          </a:xfrm>
          <a:prstGeom prst="roundRect">
            <a:avLst>
              <a:gd name="adj" fmla="val 4890"/>
            </a:avLst>
          </a:prstGeom>
          <a:solidFill>
            <a:srgbClr val="F5F3F1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04925" y="2284065"/>
            <a:ext cx="572071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596"/>
              </a:lnSpc>
              <a:buNone/>
            </a:pPr>
            <a:r>
              <a:rPr lang="en-US" sz="5400" spc="-108" kern="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10x cheaper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1304925" y="3046065"/>
            <a:ext cx="5720715" cy="3847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556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 capability, roughly every year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304925" y="3468960"/>
            <a:ext cx="5356670" cy="600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59F9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a16z, Welcome to LLMflation, 2024; corroborated by Epoch AI, 2025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52500" y="4554810"/>
            <a:ext cx="5905500" cy="2403128"/>
          </a:xfrm>
          <a:prstGeom prst="roundRect">
            <a:avLst>
              <a:gd name="adj" fmla="val 4756"/>
            </a:avLst>
          </a:prstGeom>
          <a:solidFill>
            <a:srgbClr val="F5F3F1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04925" y="4850085"/>
            <a:ext cx="5720715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6596"/>
              </a:lnSpc>
              <a:buNone/>
            </a:pPr>
            <a:r>
              <a:rPr lang="en-US" sz="5400" spc="-108" kern="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10x the price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1304925" y="5612085"/>
            <a:ext cx="5356670" cy="7314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556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frontier tier vs small tier per token on today's Anthropic price list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304925" y="6381676"/>
            <a:ext cx="5720715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59F9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Anthropic pricing, verified July 2026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52500" y="7186538"/>
            <a:ext cx="6082665" cy="115676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462"/>
              </a:lnSpc>
              <a:buNone/>
            </a:pPr>
            <a:r>
              <a:rPr lang="en-US" sz="2025" dirty="0">
                <a:solidFill>
                  <a:srgbClr val="7771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model choice that was right in January is overpriced by summer. Most agent layers never get re-asked.</a:t>
            </a:r>
            <a:endParaRPr lang="en-US" sz="2025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11097" b="-11097"/>
          <a:stretch/>
        </p:blipFill>
        <p:spPr>
          <a:xfrm>
            <a:off x="7467600" y="1988790"/>
            <a:ext cx="9867900" cy="753621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D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4716125" cy="1462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4520"/>
              </a:lnSpc>
              <a:buNone/>
            </a:pPr>
            <a:r>
              <a:rPr lang="en-US" sz="5100" spc="-102" kern="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Generic benchmarks can't answer it. Your traces can.</a:t>
            </a:r>
            <a:endParaRPr lang="en-US" sz="5100" dirty="0"/>
          </a:p>
        </p:txBody>
      </p:sp>
      <p:sp>
        <p:nvSpPr>
          <p:cNvPr id="3" name="Text 1"/>
          <p:cNvSpPr/>
          <p:nvPr/>
        </p:nvSpPr>
        <p:spPr>
          <a:xfrm>
            <a:off x="952500" y="4050953"/>
            <a:ext cx="5494020" cy="2181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Leaderboards rank models on someone else's tasks. The only benchmark that matters is what your agent already shipped and you accepted.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952500" y="6460778"/>
            <a:ext cx="5494020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50" dirty="0">
                <a:solidFill>
                  <a:srgbClr val="7771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Replay real traces through candidate models, judge against your own accepted outputs, and the decision makes itself.</a:t>
            </a:r>
            <a:endParaRPr lang="en-US" sz="22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2292" b="-2292"/>
          <a:stretch/>
        </p:blipFill>
        <p:spPr>
          <a:xfrm>
            <a:off x="6896100" y="2701230"/>
            <a:ext cx="10439400" cy="682377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D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2753975" cy="1462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4520"/>
              </a:lnSpc>
              <a:buNone/>
            </a:pPr>
            <a:r>
              <a:rPr lang="en-US" sz="5100" spc="-102" kern="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Detect. Prove. Fix. Shipped and open source.</a:t>
            </a:r>
            <a:endParaRPr lang="en-US" sz="5100" dirty="0"/>
          </a:p>
        </p:txBody>
      </p:sp>
      <p:sp>
        <p:nvSpPr>
          <p:cNvPr id="3" name="Shape 1"/>
          <p:cNvSpPr/>
          <p:nvPr/>
        </p:nvSpPr>
        <p:spPr>
          <a:xfrm>
            <a:off x="15315828" y="990600"/>
            <a:ext cx="2019672" cy="509587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4" name="Text 2"/>
          <p:cNvSpPr/>
          <p:nvPr/>
        </p:nvSpPr>
        <p:spPr>
          <a:xfrm>
            <a:off x="15582528" y="1104900"/>
            <a:ext cx="1562472" cy="31908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FDFCF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available now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52500" y="3750022"/>
            <a:ext cx="523875" cy="523875"/>
          </a:xfrm>
          <a:prstGeom prst="ellipse">
            <a:avLst/>
          </a:prstGeom>
          <a:ln w="14288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28688" y="3764310"/>
            <a:ext cx="571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75" dirty="0">
                <a:solidFill>
                  <a:srgbClr val="000000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1</a:t>
            </a:r>
            <a:endParaRPr lang="en-US" sz="1875" dirty="0"/>
          </a:p>
        </p:txBody>
      </p:sp>
      <p:sp>
        <p:nvSpPr>
          <p:cNvPr id="7" name="Text 5"/>
          <p:cNvSpPr/>
          <p:nvPr/>
        </p:nvSpPr>
        <p:spPr>
          <a:xfrm>
            <a:off x="1704975" y="3750022"/>
            <a:ext cx="5111401" cy="783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462"/>
              </a:lnSpc>
              <a:buNone/>
            </a:pPr>
            <a:r>
              <a:rPr lang="en-US" sz="2025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Reads the traces you already have. Autodetects 8 trace formats.</a:t>
            </a:r>
            <a:endParaRPr lang="en-US" sz="2025" dirty="0"/>
          </a:p>
        </p:txBody>
      </p:sp>
      <p:sp>
        <p:nvSpPr>
          <p:cNvPr id="8" name="Shape 6"/>
          <p:cNvSpPr/>
          <p:nvPr/>
        </p:nvSpPr>
        <p:spPr>
          <a:xfrm>
            <a:off x="952500" y="4781550"/>
            <a:ext cx="523875" cy="523875"/>
          </a:xfrm>
          <a:prstGeom prst="ellipse">
            <a:avLst/>
          </a:prstGeom>
          <a:ln w="14288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8688" y="4795838"/>
            <a:ext cx="571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75" dirty="0">
                <a:solidFill>
                  <a:srgbClr val="000000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2</a:t>
            </a:r>
            <a:endParaRPr lang="en-US" sz="1875" dirty="0"/>
          </a:p>
        </p:txBody>
      </p:sp>
      <p:sp>
        <p:nvSpPr>
          <p:cNvPr id="10" name="Text 8"/>
          <p:cNvSpPr/>
          <p:nvPr/>
        </p:nvSpPr>
        <p:spPr>
          <a:xfrm>
            <a:off x="1704975" y="4781550"/>
            <a:ext cx="5111401" cy="15296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462"/>
              </a:lnSpc>
              <a:buNone/>
            </a:pPr>
            <a:r>
              <a:rPr lang="en-US" sz="2025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Replays each step through cheaper models, judges against your shipped outputs. High-risk steps abstain: it can say no.</a:t>
            </a:r>
            <a:endParaRPr lang="en-US" sz="2025" dirty="0"/>
          </a:p>
        </p:txBody>
      </p:sp>
      <p:sp>
        <p:nvSpPr>
          <p:cNvPr id="11" name="Shape 9"/>
          <p:cNvSpPr/>
          <p:nvPr/>
        </p:nvSpPr>
        <p:spPr>
          <a:xfrm>
            <a:off x="952500" y="6558855"/>
            <a:ext cx="523875" cy="523875"/>
          </a:xfrm>
          <a:prstGeom prst="ellipse">
            <a:avLst/>
          </a:prstGeom>
          <a:ln w="14288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28688" y="6573143"/>
            <a:ext cx="571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75" dirty="0">
                <a:solidFill>
                  <a:srgbClr val="000000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3</a:t>
            </a:r>
            <a:endParaRPr lang="en-US" sz="1875" dirty="0"/>
          </a:p>
        </p:txBody>
      </p:sp>
      <p:sp>
        <p:nvSpPr>
          <p:cNvPr id="13" name="Text 11"/>
          <p:cNvSpPr/>
          <p:nvPr/>
        </p:nvSpPr>
        <p:spPr>
          <a:xfrm>
            <a:off x="1704975" y="6558855"/>
            <a:ext cx="5111401" cy="7838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462"/>
              </a:lnSpc>
              <a:buNone/>
            </a:pPr>
            <a:r>
              <a:rPr lang="en-US" sz="2025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Hands you a per-step swap plan with dollar savings. You approve every swap.</a:t>
            </a:r>
            <a:endParaRPr lang="en-US" sz="2025" dirty="0"/>
          </a:p>
        </p:txBody>
      </p:sp>
      <p:sp>
        <p:nvSpPr>
          <p:cNvPr id="14" name="Shape 12"/>
          <p:cNvSpPr/>
          <p:nvPr/>
        </p:nvSpPr>
        <p:spPr>
          <a:xfrm>
            <a:off x="952500" y="7666583"/>
            <a:ext cx="5715000" cy="809625"/>
          </a:xfrm>
          <a:prstGeom prst="roundRect">
            <a:avLst>
              <a:gd name="adj" fmla="val 14118"/>
            </a:avLst>
          </a:prstGeom>
          <a:solidFill>
            <a:srgbClr val="F5F3F1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47775" y="7923758"/>
            <a:ext cx="5295900" cy="3333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59F97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$</a:t>
            </a:r>
            <a:pPr algn="l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npx skills add elm-os/rightmodeler</a:t>
            </a:r>
            <a:endParaRPr lang="en-US" sz="18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4273" b="-4273"/>
          <a:stretch/>
        </p:blipFill>
        <p:spPr>
          <a:xfrm>
            <a:off x="7277100" y="2701230"/>
            <a:ext cx="10058400" cy="682377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D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2835183" cy="750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4520"/>
              </a:lnSpc>
              <a:buNone/>
            </a:pPr>
            <a:r>
              <a:rPr lang="en-US" sz="5100" spc="-102" kern="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last model migration you do by hand.</a:t>
            </a:r>
            <a:endParaRPr lang="en-US" sz="5100" dirty="0"/>
          </a:p>
        </p:txBody>
      </p:sp>
      <p:sp>
        <p:nvSpPr>
          <p:cNvPr id="3" name="Shape 1"/>
          <p:cNvSpPr/>
          <p:nvPr/>
        </p:nvSpPr>
        <p:spPr>
          <a:xfrm>
            <a:off x="14076090" y="990600"/>
            <a:ext cx="3259410" cy="528638"/>
          </a:xfrm>
          <a:prstGeom prst="roundRect">
            <a:avLst>
              <a:gd name="adj" fmla="val 50000"/>
            </a:avLst>
          </a:prstGeom>
          <a:ln w="9525">
            <a:solidFill>
              <a:srgbClr val="E5E5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352315" y="1114425"/>
            <a:ext cx="2804743" cy="31908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771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coming soon, waitlist live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52500" y="4337670"/>
            <a:ext cx="5494020" cy="1752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new model ships. The agent replays it against your traces in CI, prices the swap, and opens a pull request with the evidence attached.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952500" y="6318870"/>
            <a:ext cx="5494020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50" dirty="0">
                <a:solidFill>
                  <a:srgbClr val="7771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Weak evidence means no PR. Nothing merges without you.</a:t>
            </a:r>
            <a:endParaRPr lang="en-US" sz="22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7752" b="-7752"/>
          <a:stretch/>
        </p:blipFill>
        <p:spPr>
          <a:xfrm>
            <a:off x="6896100" y="1988790"/>
            <a:ext cx="10439400" cy="753621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D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2753975" cy="1462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4520"/>
              </a:lnSpc>
              <a:buNone/>
            </a:pPr>
            <a:r>
              <a:rPr lang="en-US" sz="5100" spc="-102" kern="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Crucible: every layer, measured and right-sized.</a:t>
            </a:r>
            <a:endParaRPr lang="en-US" sz="5100" dirty="0"/>
          </a:p>
        </p:txBody>
      </p:sp>
      <p:sp>
        <p:nvSpPr>
          <p:cNvPr id="3" name="Shape 1"/>
          <p:cNvSpPr/>
          <p:nvPr/>
        </p:nvSpPr>
        <p:spPr>
          <a:xfrm>
            <a:off x="15416138" y="990600"/>
            <a:ext cx="1919362" cy="528638"/>
          </a:xfrm>
          <a:prstGeom prst="roundRect">
            <a:avLst>
              <a:gd name="adj" fmla="val 50000"/>
            </a:avLst>
          </a:prstGeom>
          <a:ln w="9525">
            <a:solidFill>
              <a:srgbClr val="E5E5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5692363" y="1114425"/>
            <a:ext cx="1443112" cy="319088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7771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early access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52500" y="4908203"/>
            <a:ext cx="5494020" cy="1323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analytics suite for AI agents: cost by layer, speed by step, failures as they happen, continuously right-sized.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952500" y="6460778"/>
            <a:ext cx="5494020" cy="895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50" dirty="0">
                <a:solidFill>
                  <a:srgbClr val="7771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Connects over MCP. Your keys, your routes. Not a gateway.</a:t>
            </a:r>
            <a:endParaRPr lang="en-US" sz="225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2292" b="-2292"/>
          <a:stretch/>
        </p:blipFill>
        <p:spPr>
          <a:xfrm>
            <a:off x="6896100" y="2701230"/>
            <a:ext cx="10439400" cy="682377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D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4716125" cy="1462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4520"/>
              </a:lnSpc>
              <a:buNone/>
            </a:pPr>
            <a:r>
              <a:rPr lang="en-US" sz="5100" spc="-102" kern="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Open source is the wedge. The decision layer is the business.</a:t>
            </a:r>
            <a:endParaRPr lang="en-US" sz="5100" dirty="0"/>
          </a:p>
        </p:txBody>
      </p:sp>
      <p:sp>
        <p:nvSpPr>
          <p:cNvPr id="3" name="Text 1"/>
          <p:cNvSpPr/>
          <p:nvPr/>
        </p:nvSpPr>
        <p:spPr>
          <a:xfrm>
            <a:off x="952500" y="4693890"/>
            <a:ext cx="5494020" cy="1323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skill stays free and open source: it earns trust and teaches us every trace format in the wild.</a:t>
            </a:r>
            <a:endParaRPr lang="en-US" sz="2250" dirty="0"/>
          </a:p>
        </p:txBody>
      </p:sp>
      <p:sp>
        <p:nvSpPr>
          <p:cNvPr id="4" name="Text 2"/>
          <p:cNvSpPr/>
          <p:nvPr/>
        </p:nvSpPr>
        <p:spPr>
          <a:xfrm>
            <a:off x="952500" y="6246465"/>
            <a:ext cx="5494020" cy="1323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50" dirty="0">
                <a:solidFill>
                  <a:srgbClr val="7771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agent and Crucible are the paid products: open-core SaaS, priced per repo and per agent fleet.</a:t>
            </a:r>
            <a:endParaRPr lang="en-US" sz="22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2292" b="-2292"/>
          <a:stretch/>
        </p:blipFill>
        <p:spPr>
          <a:xfrm>
            <a:off x="6896100" y="2701230"/>
            <a:ext cx="10439400" cy="682377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D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4716125" cy="1462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4520"/>
              </a:lnSpc>
              <a:buNone/>
            </a:pPr>
            <a:r>
              <a:rPr lang="en-US" sz="5100" spc="-102" kern="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Routers pick a lane per request. We decide the stack.</a:t>
            </a:r>
            <a:endParaRPr lang="en-US" sz="5100" dirty="0"/>
          </a:p>
        </p:txBody>
      </p:sp>
      <p:sp>
        <p:nvSpPr>
          <p:cNvPr id="3" name="Shape 1"/>
          <p:cNvSpPr/>
          <p:nvPr/>
        </p:nvSpPr>
        <p:spPr>
          <a:xfrm>
            <a:off x="952500" y="2938463"/>
            <a:ext cx="6096000" cy="1547813"/>
          </a:xfrm>
          <a:prstGeom prst="roundRect">
            <a:avLst>
              <a:gd name="adj" fmla="val 7385"/>
            </a:avLst>
          </a:prstGeom>
          <a:solidFill>
            <a:srgbClr val="F5F3F1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66825" y="3195638"/>
            <a:ext cx="601408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Runtime routers</a:t>
            </a:r>
            <a:endParaRPr lang="en-US" sz="2025" dirty="0"/>
          </a:p>
        </p:txBody>
      </p:sp>
      <p:sp>
        <p:nvSpPr>
          <p:cNvPr id="5" name="Text 3"/>
          <p:cNvSpPr/>
          <p:nvPr/>
        </p:nvSpPr>
        <p:spPr>
          <a:xfrm>
            <a:off x="1266825" y="3562350"/>
            <a:ext cx="563137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1875" dirty="0">
                <a:solidFill>
                  <a:srgbClr val="7771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OpenRouter, Martian: route each request at the proxy, blind to your quality bar.</a:t>
            </a:r>
            <a:endParaRPr lang="en-US" sz="1875" dirty="0"/>
          </a:p>
        </p:txBody>
      </p:sp>
      <p:sp>
        <p:nvSpPr>
          <p:cNvPr id="6" name="Shape 4"/>
          <p:cNvSpPr/>
          <p:nvPr/>
        </p:nvSpPr>
        <p:spPr>
          <a:xfrm>
            <a:off x="952500" y="4695825"/>
            <a:ext cx="6096000" cy="1547813"/>
          </a:xfrm>
          <a:prstGeom prst="roundRect">
            <a:avLst>
              <a:gd name="adj" fmla="val 7385"/>
            </a:avLst>
          </a:prstGeom>
          <a:solidFill>
            <a:srgbClr val="F5F3F1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66825" y="4953000"/>
            <a:ext cx="601408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 and observability platforms</a:t>
            </a:r>
            <a:endParaRPr lang="en-US" sz="2025" dirty="0"/>
          </a:p>
        </p:txBody>
      </p:sp>
      <p:sp>
        <p:nvSpPr>
          <p:cNvPr id="8" name="Text 6"/>
          <p:cNvSpPr/>
          <p:nvPr/>
        </p:nvSpPr>
        <p:spPr>
          <a:xfrm>
            <a:off x="1266825" y="5319713"/>
            <a:ext cx="563137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1875" dirty="0">
                <a:solidFill>
                  <a:srgbClr val="7771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LangSmith, Braintrust, Arize: measure outputs, stop short of the decision.</a:t>
            </a:r>
            <a:endParaRPr lang="en-US" sz="1875" dirty="0"/>
          </a:p>
        </p:txBody>
      </p:sp>
      <p:sp>
        <p:nvSpPr>
          <p:cNvPr id="9" name="Shape 7"/>
          <p:cNvSpPr/>
          <p:nvPr/>
        </p:nvSpPr>
        <p:spPr>
          <a:xfrm>
            <a:off x="952500" y="6453188"/>
            <a:ext cx="6096000" cy="1547813"/>
          </a:xfrm>
          <a:prstGeom prst="roundRect">
            <a:avLst>
              <a:gd name="adj" fmla="val 7385"/>
            </a:avLst>
          </a:prstGeom>
          <a:solidFill>
            <a:srgbClr val="F5F3F1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66825" y="6710363"/>
            <a:ext cx="6014085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FinOps</a:t>
            </a:r>
            <a:endParaRPr lang="en-US" sz="2025" dirty="0"/>
          </a:p>
        </p:txBody>
      </p:sp>
      <p:sp>
        <p:nvSpPr>
          <p:cNvPr id="11" name="Text 9"/>
          <p:cNvSpPr/>
          <p:nvPr/>
        </p:nvSpPr>
        <p:spPr>
          <a:xfrm>
            <a:off x="1266825" y="7077075"/>
            <a:ext cx="563137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1875" dirty="0">
                <a:solidFill>
                  <a:srgbClr val="7771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CloudZero, Finout: see the bill after the fact, never the quality.</a:t>
            </a:r>
            <a:endParaRPr lang="en-US" sz="1875" dirty="0"/>
          </a:p>
        </p:txBody>
      </p:sp>
      <p:sp>
        <p:nvSpPr>
          <p:cNvPr id="12" name="Text 10"/>
          <p:cNvSpPr/>
          <p:nvPr/>
        </p:nvSpPr>
        <p:spPr>
          <a:xfrm>
            <a:off x="952500" y="8210550"/>
            <a:ext cx="6278880" cy="11152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683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Nobody else sits in the repo, runs your evals against every release, and ships the decision as a PR. Also not: a cost trimmer for coding assistants.</a:t>
            </a:r>
            <a:endParaRPr lang="en-US" sz="19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6410" b="-6410"/>
          <a:stretch/>
        </p:blipFill>
        <p:spPr>
          <a:xfrm>
            <a:off x="7658100" y="2701230"/>
            <a:ext cx="9677400" cy="682377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D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500" y="857250"/>
            <a:ext cx="7620000" cy="8667750"/>
          </a:xfrm>
          <a:prstGeom prst="roundRect">
            <a:avLst>
              <a:gd name="adj" fmla="val 2000"/>
            </a:avLst>
          </a:prstGeom>
          <a:solidFill>
            <a:srgbClr val="FDFCFC"/>
          </a:solidFill>
          <a:ln/>
        </p:spPr>
      </p:sp>
      <p:sp>
        <p:nvSpPr>
          <p:cNvPr id="4" name="Text 1"/>
          <p:cNvSpPr/>
          <p:nvPr/>
        </p:nvSpPr>
        <p:spPr>
          <a:xfrm>
            <a:off x="1524000" y="1276350"/>
            <a:ext cx="6671310" cy="12328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918"/>
              </a:lnSpc>
              <a:buNone/>
            </a:pPr>
            <a:r>
              <a:rPr lang="en-US" sz="4200" spc="-84" kern="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spend is real. The decision layer is missing.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1524000" y="2718792"/>
            <a:ext cx="7124700" cy="59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548"/>
              </a:lnSpc>
              <a:buNone/>
            </a:pPr>
            <a:r>
              <a:rPr lang="en-US" sz="4200" spc="-84" kern="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$37B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1524000" y="3316932"/>
            <a:ext cx="6671310" cy="681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1875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 enterprise genAI spend in 2025, up 3.2x year over year</a:t>
            </a:r>
            <a:endParaRPr lang="en-US" sz="1875" dirty="0"/>
          </a:p>
        </p:txBody>
      </p:sp>
      <p:sp>
        <p:nvSpPr>
          <p:cNvPr id="7" name="Text 4"/>
          <p:cNvSpPr/>
          <p:nvPr/>
        </p:nvSpPr>
        <p:spPr>
          <a:xfrm>
            <a:off x="1524000" y="3997970"/>
            <a:ext cx="712470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59F9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Menlo Ventures, 2025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524000" y="4526607"/>
            <a:ext cx="7124700" cy="59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548"/>
              </a:lnSpc>
              <a:buNone/>
            </a:pPr>
            <a:r>
              <a:rPr lang="en-US" sz="4200" spc="-84" kern="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$12.5B</a:t>
            </a:r>
            <a:endParaRPr lang="en-US" sz="4200" dirty="0"/>
          </a:p>
        </p:txBody>
      </p:sp>
      <p:sp>
        <p:nvSpPr>
          <p:cNvPr id="9" name="Text 6"/>
          <p:cNvSpPr/>
          <p:nvPr/>
        </p:nvSpPr>
        <p:spPr>
          <a:xfrm>
            <a:off x="1524000" y="5124748"/>
            <a:ext cx="6671310" cy="681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1875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it on foundation model APIs, the pool model decisions steer</a:t>
            </a:r>
            <a:endParaRPr lang="en-US" sz="1875" dirty="0"/>
          </a:p>
        </p:txBody>
      </p:sp>
      <p:sp>
        <p:nvSpPr>
          <p:cNvPr id="10" name="Text 7"/>
          <p:cNvSpPr/>
          <p:nvPr/>
        </p:nvSpPr>
        <p:spPr>
          <a:xfrm>
            <a:off x="1524000" y="5805785"/>
            <a:ext cx="712470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59F9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Menlo Ventures, 2025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524000" y="6334423"/>
            <a:ext cx="7124700" cy="59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548"/>
              </a:lnSpc>
              <a:buNone/>
            </a:pPr>
            <a:r>
              <a:rPr lang="en-US" sz="4200" spc="-84" kern="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$52.6B</a:t>
            </a:r>
            <a:endParaRPr lang="en-US" sz="4200" dirty="0"/>
          </a:p>
        </p:txBody>
      </p:sp>
      <p:sp>
        <p:nvSpPr>
          <p:cNvPr id="12" name="Text 9"/>
          <p:cNvSpPr/>
          <p:nvPr/>
        </p:nvSpPr>
        <p:spPr>
          <a:xfrm>
            <a:off x="1524000" y="6932563"/>
            <a:ext cx="6671310" cy="681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500"/>
              </a:lnSpc>
              <a:buNone/>
            </a:pPr>
            <a:r>
              <a:rPr lang="en-US" sz="1875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agents market by 2030, from $7.84B in 2025, a 46.3% CAGR</a:t>
            </a:r>
            <a:endParaRPr lang="en-US" sz="1875" dirty="0"/>
          </a:p>
        </p:txBody>
      </p:sp>
      <p:sp>
        <p:nvSpPr>
          <p:cNvPr id="13" name="Text 10"/>
          <p:cNvSpPr/>
          <p:nvPr/>
        </p:nvSpPr>
        <p:spPr>
          <a:xfrm>
            <a:off x="1524000" y="7613600"/>
            <a:ext cx="7124700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59F9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MarketsandMarkets, 2025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1524000" y="8142238"/>
            <a:ext cx="6671310" cy="1038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667"/>
              </a:lnSpc>
              <a:buNone/>
            </a:pPr>
            <a:r>
              <a:rPr lang="en-US" sz="1875" dirty="0">
                <a:solidFill>
                  <a:srgbClr val="7771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Bottom-up, re-deciding model fit by hand is on the order of $1.5B a year of engineering time, before any savings are counted.</a:t>
            </a:r>
            <a:endParaRPr lang="en-US" sz="1875" dirty="0"/>
          </a:p>
        </p:txBody>
      </p:sp>
      <p:sp>
        <p:nvSpPr>
          <p:cNvPr id="15" name="Shape 12"/>
          <p:cNvSpPr/>
          <p:nvPr/>
        </p:nvSpPr>
        <p:spPr>
          <a:xfrm>
            <a:off x="10382250" y="1714500"/>
            <a:ext cx="6858000" cy="6858000"/>
          </a:xfrm>
          <a:prstGeom prst="roundRect">
            <a:avLst>
              <a:gd name="adj" fmla="val 2222"/>
            </a:avLst>
          </a:prstGeom>
          <a:solidFill>
            <a:srgbClr val="FDFCFC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2250" y="1714500"/>
            <a:ext cx="6858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D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5716250" cy="750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4520"/>
              </a:lnSpc>
              <a:buNone/>
            </a:pPr>
            <a:r>
              <a:rPr lang="en-US" sz="5100" spc="-102" kern="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Felt the pain. Built the tool. Shipped the wedge.</a:t>
            </a:r>
            <a:endParaRPr lang="en-US" sz="5100" dirty="0"/>
          </a:p>
        </p:txBody>
      </p:sp>
      <p:sp>
        <p:nvSpPr>
          <p:cNvPr id="3" name="Shape 1"/>
          <p:cNvSpPr/>
          <p:nvPr/>
        </p:nvSpPr>
        <p:spPr>
          <a:xfrm>
            <a:off x="952500" y="1988790"/>
            <a:ext cx="5308550" cy="2069306"/>
          </a:xfrm>
          <a:prstGeom prst="roundRect">
            <a:avLst>
              <a:gd name="adj" fmla="val 5524"/>
            </a:avLst>
          </a:prstGeom>
          <a:solidFill>
            <a:srgbClr val="F5F3F1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04925" y="2303115"/>
            <a:ext cx="5064070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Today</a:t>
            </a:r>
            <a:endParaRPr lang="en-US" sz="2025" dirty="0"/>
          </a:p>
        </p:txBody>
      </p:sp>
      <p:sp>
        <p:nvSpPr>
          <p:cNvPr id="5" name="Text 3"/>
          <p:cNvSpPr/>
          <p:nvPr/>
        </p:nvSpPr>
        <p:spPr>
          <a:xfrm>
            <a:off x="1304925" y="2707928"/>
            <a:ext cx="4741811" cy="1073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833"/>
              </a:lnSpc>
              <a:buNone/>
            </a:pPr>
            <a:r>
              <a:rPr lang="en-US" sz="1875" dirty="0">
                <a:solidFill>
                  <a:srgbClr val="7771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Open-source skill, available now. Born as an internal tool, used in production work at B:Side, VCOS, and Colyap.</a:t>
            </a:r>
            <a:endParaRPr lang="en-US" sz="1875" dirty="0"/>
          </a:p>
        </p:txBody>
      </p:sp>
      <p:sp>
        <p:nvSpPr>
          <p:cNvPr id="6" name="Shape 4"/>
          <p:cNvSpPr/>
          <p:nvPr/>
        </p:nvSpPr>
        <p:spPr>
          <a:xfrm>
            <a:off x="6489650" y="1988790"/>
            <a:ext cx="5308625" cy="2069306"/>
          </a:xfrm>
          <a:prstGeom prst="roundRect">
            <a:avLst>
              <a:gd name="adj" fmla="val 5524"/>
            </a:avLst>
          </a:prstGeom>
          <a:solidFill>
            <a:srgbClr val="F5F3F1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42075" y="2303115"/>
            <a:ext cx="5064152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</a:t>
            </a:r>
            <a:endParaRPr lang="en-US" sz="2025" dirty="0"/>
          </a:p>
        </p:txBody>
      </p:sp>
      <p:sp>
        <p:nvSpPr>
          <p:cNvPr id="8" name="Text 6"/>
          <p:cNvSpPr/>
          <p:nvPr/>
        </p:nvSpPr>
        <p:spPr>
          <a:xfrm>
            <a:off x="6842075" y="2707928"/>
            <a:ext cx="4741888" cy="1073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833"/>
              </a:lnSpc>
              <a:buNone/>
            </a:pPr>
            <a:r>
              <a:rPr lang="en-US" sz="1875" dirty="0">
                <a:solidFill>
                  <a:srgbClr val="7771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rightmodeler agent (waitlist live) and Crucible (early access): from one-time report to always-current decisions.</a:t>
            </a:r>
            <a:endParaRPr lang="en-US" sz="1875" dirty="0"/>
          </a:p>
        </p:txBody>
      </p:sp>
      <p:sp>
        <p:nvSpPr>
          <p:cNvPr id="9" name="Shape 7"/>
          <p:cNvSpPr/>
          <p:nvPr/>
        </p:nvSpPr>
        <p:spPr>
          <a:xfrm>
            <a:off x="12026875" y="1988790"/>
            <a:ext cx="5308625" cy="2069306"/>
          </a:xfrm>
          <a:prstGeom prst="roundRect">
            <a:avLst>
              <a:gd name="adj" fmla="val 5524"/>
            </a:avLst>
          </a:prstGeom>
          <a:solidFill>
            <a:srgbClr val="F5F3F1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379300" y="2303115"/>
            <a:ext cx="5064152" cy="347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Vision</a:t>
            </a:r>
            <a:endParaRPr lang="en-US" sz="2025" dirty="0"/>
          </a:p>
        </p:txBody>
      </p:sp>
      <p:sp>
        <p:nvSpPr>
          <p:cNvPr id="11" name="Text 9"/>
          <p:cNvSpPr/>
          <p:nvPr/>
        </p:nvSpPr>
        <p:spPr>
          <a:xfrm>
            <a:off x="12379300" y="2707928"/>
            <a:ext cx="4741888" cy="728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833"/>
              </a:lnSpc>
              <a:buNone/>
            </a:pPr>
            <a:r>
              <a:rPr lang="en-US" sz="1875" dirty="0">
                <a:solidFill>
                  <a:srgbClr val="7771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cost-optimization layer for every business building on LLMs.</a:t>
            </a:r>
            <a:endParaRPr lang="en-US" sz="1875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-3320" r="-3320" t="0" b="0"/>
          <a:stretch/>
        </p:blipFill>
        <p:spPr>
          <a:xfrm>
            <a:off x="1238250" y="4477196"/>
            <a:ext cx="15811500" cy="504780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D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52500" y="857250"/>
            <a:ext cx="15716250" cy="750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4520"/>
              </a:lnSpc>
              <a:buNone/>
            </a:pPr>
            <a:r>
              <a:rPr lang="en-US" sz="5100" spc="-102" kern="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Four engineers who lived this problem.</a:t>
            </a:r>
            <a:endParaRPr lang="en-US" sz="5100" dirty="0"/>
          </a:p>
        </p:txBody>
      </p:sp>
      <p:sp>
        <p:nvSpPr>
          <p:cNvPr id="3" name="Shape 1"/>
          <p:cNvSpPr/>
          <p:nvPr/>
        </p:nvSpPr>
        <p:spPr>
          <a:xfrm>
            <a:off x="952500" y="1950690"/>
            <a:ext cx="8077200" cy="2551807"/>
          </a:xfrm>
          <a:prstGeom prst="roundRect">
            <a:avLst>
              <a:gd name="adj" fmla="val 4479"/>
            </a:avLst>
          </a:prstGeom>
          <a:solidFill>
            <a:srgbClr val="F5F3F1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43025" y="2284065"/>
            <a:ext cx="802576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4615"/>
              </a:lnSpc>
              <a:buNone/>
            </a:pPr>
            <a:r>
              <a:rPr lang="en-US" sz="3000" spc="-60" kern="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Aakash Harish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343025" y="2779365"/>
            <a:ext cx="8025765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59F9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Co-founder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43025" y="3136553"/>
            <a:ext cx="7515035" cy="728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833"/>
              </a:lnSpc>
              <a:buNone/>
            </a:pPr>
            <a:r>
              <a:rPr lang="en-US" sz="1875" dirty="0">
                <a:solidFill>
                  <a:srgbClr val="7771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Founder of VCOS; built B:Side Assist; AI products across fintech and VC.</a:t>
            </a:r>
            <a:endParaRPr lang="en-US" sz="1875" dirty="0"/>
          </a:p>
        </p:txBody>
      </p:sp>
      <p:sp>
        <p:nvSpPr>
          <p:cNvPr id="7" name="Shape 5"/>
          <p:cNvSpPr/>
          <p:nvPr/>
        </p:nvSpPr>
        <p:spPr>
          <a:xfrm>
            <a:off x="9258300" y="1950690"/>
            <a:ext cx="8077200" cy="2551807"/>
          </a:xfrm>
          <a:prstGeom prst="roundRect">
            <a:avLst>
              <a:gd name="adj" fmla="val 4479"/>
            </a:avLst>
          </a:prstGeom>
          <a:solidFill>
            <a:srgbClr val="F5F3F1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48825" y="2284065"/>
            <a:ext cx="802576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4615"/>
              </a:lnSpc>
              <a:buNone/>
            </a:pPr>
            <a:r>
              <a:rPr lang="en-US" sz="3000" spc="-60" kern="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Ameya Lambat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648825" y="2779365"/>
            <a:ext cx="8025765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59F9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Co-founder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648825" y="3136553"/>
            <a:ext cx="7515035" cy="728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833"/>
              </a:lnSpc>
              <a:buNone/>
            </a:pPr>
            <a:r>
              <a:rPr lang="en-US" sz="1875" dirty="0">
                <a:solidFill>
                  <a:srgbClr val="7771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systems at ASU's DigitalDx lab; built Token Receipt, cost tracking for AI agents; previously PayPal, Onshape, Corsair.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952500" y="4731097"/>
            <a:ext cx="8077200" cy="2551807"/>
          </a:xfrm>
          <a:prstGeom prst="roundRect">
            <a:avLst>
              <a:gd name="adj" fmla="val 4479"/>
            </a:avLst>
          </a:prstGeom>
          <a:solidFill>
            <a:srgbClr val="F5F3F1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343025" y="5064472"/>
            <a:ext cx="802576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4615"/>
              </a:lnSpc>
              <a:buNone/>
            </a:pPr>
            <a:r>
              <a:rPr lang="en-US" sz="3000" spc="-60" kern="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Piyussh Singhal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343025" y="5559772"/>
            <a:ext cx="8025765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59F9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Co-founder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43025" y="5916960"/>
            <a:ext cx="7515035" cy="728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833"/>
              </a:lnSpc>
              <a:buNone/>
            </a:pPr>
            <a:r>
              <a:rPr lang="en-US" sz="1875" dirty="0">
                <a:solidFill>
                  <a:srgbClr val="7771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B:Side Assist and Colyap; founder of Alchemy Labs, AI agents for SMB automation.</a:t>
            </a:r>
            <a:endParaRPr lang="en-US" sz="1875" dirty="0"/>
          </a:p>
        </p:txBody>
      </p:sp>
      <p:sp>
        <p:nvSpPr>
          <p:cNvPr id="15" name="Shape 13"/>
          <p:cNvSpPr/>
          <p:nvPr/>
        </p:nvSpPr>
        <p:spPr>
          <a:xfrm>
            <a:off x="9258300" y="4731097"/>
            <a:ext cx="8077200" cy="2551807"/>
          </a:xfrm>
          <a:prstGeom prst="roundRect">
            <a:avLst>
              <a:gd name="adj" fmla="val 4479"/>
            </a:avLst>
          </a:prstGeom>
          <a:solidFill>
            <a:srgbClr val="F5F3F1"/>
          </a:solidFill>
          <a:ln w="9525">
            <a:solidFill>
              <a:srgbClr val="E5E5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48825" y="5064472"/>
            <a:ext cx="8025765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4615"/>
              </a:lnSpc>
              <a:buNone/>
            </a:pPr>
            <a:r>
              <a:rPr lang="en-US" sz="3000" spc="-60" kern="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Chaitanya Chaurasiya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9648825" y="5559772"/>
            <a:ext cx="8025765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A59F9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Co-founder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648825" y="5916960"/>
            <a:ext cx="7515035" cy="728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833"/>
              </a:lnSpc>
              <a:buNone/>
            </a:pPr>
            <a:r>
              <a:rPr lang="en-US" sz="1875" dirty="0">
                <a:solidFill>
                  <a:srgbClr val="7771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Engineer at eero (Amazon); mesh-wifi stability patent; cut fleet noise events from about 1M a day to 10k.</a:t>
            </a:r>
            <a:endParaRPr lang="en-US" sz="1875" dirty="0"/>
          </a:p>
        </p:txBody>
      </p:sp>
      <p:sp>
        <p:nvSpPr>
          <p:cNvPr id="19" name="Text 17"/>
          <p:cNvSpPr/>
          <p:nvPr/>
        </p:nvSpPr>
        <p:spPr>
          <a:xfrm>
            <a:off x="952500" y="7663904"/>
            <a:ext cx="16874490" cy="7561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9683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built multiagent systems at Amazon, B:Side, Vanderbilt Financial Group, Colyap, and VCOS. rightmodeler is the tool we kept wishing existed.</a:t>
            </a:r>
            <a:endParaRPr lang="en-US" sz="195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35000" b="35000"/>
          <a:stretch/>
        </p:blipFill>
        <p:spPr>
          <a:xfrm>
            <a:off x="0" y="9372600"/>
            <a:ext cx="182880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DFC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52500" y="5179814"/>
            <a:ext cx="11849100" cy="4154686"/>
          </a:xfrm>
          <a:prstGeom prst="roundRect">
            <a:avLst>
              <a:gd name="adj" fmla="val 3668"/>
            </a:avLst>
          </a:prstGeom>
          <a:solidFill>
            <a:srgbClr val="FDFCFC"/>
          </a:solidFill>
          <a:ln/>
        </p:spPr>
      </p:sp>
      <p:sp>
        <p:nvSpPr>
          <p:cNvPr id="4" name="Text 1"/>
          <p:cNvSpPr/>
          <p:nvPr/>
        </p:nvSpPr>
        <p:spPr>
          <a:xfrm>
            <a:off x="1638300" y="5751314"/>
            <a:ext cx="10791825" cy="13181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154"/>
              </a:lnSpc>
              <a:buNone/>
            </a:pPr>
            <a:r>
              <a:rPr lang="en-US" sz="4500" spc="-90" kern="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 model decision deserves evidence, not a vibe.</a:t>
            </a:r>
            <a:endParaRPr lang="en-US" sz="4500" dirty="0"/>
          </a:p>
        </p:txBody>
      </p:sp>
      <p:sp>
        <p:nvSpPr>
          <p:cNvPr id="5" name="Text 2"/>
          <p:cNvSpPr/>
          <p:nvPr/>
        </p:nvSpPr>
        <p:spPr>
          <a:xfrm>
            <a:off x="1638300" y="7317135"/>
            <a:ext cx="1152525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2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Prove it on your own traces today. Let the agent keep it true tomorrow.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1638300" y="8031510"/>
            <a:ext cx="10791825" cy="7695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871"/>
              </a:lnSpc>
              <a:buNone/>
            </a:pPr>
            <a:r>
              <a:rPr lang="en-US" sz="1800" dirty="0">
                <a:solidFill>
                  <a:srgbClr val="777169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rightmodeler.com · npx skills add elm-os/rightmodeler · waitlists open for agent and Crucible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2026-07-17T22:58:27Z</dcterms:created>
  <dcterms:modified xsi:type="dcterms:W3CDTF">2026-07-17T22:58:27Z</dcterms:modified>
</cp:coreProperties>
</file>